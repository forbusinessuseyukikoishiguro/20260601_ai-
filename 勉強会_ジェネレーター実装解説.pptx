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914400"/>
            <a:ext cx="2926080" cy="2926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4754880"/>
            <a:ext cx="2377440" cy="2377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🐰 エンジニア勉強会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ジェネレーターツールの実装解説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3200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新人向け</a:t>
            </a:r>
            <a:pPr indent="0" marL="0">
              <a:buNone/>
            </a:pPr>
            <a:r>
              <a:rPr lang="en-US" sz="20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（1行ずつ）＋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中堅向け</a:t>
            </a:r>
            <a:pPr indent="0" marL="0">
              <a:buNone/>
            </a:pPr>
            <a:r>
              <a:rPr lang="en-US" sz="20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（設計・UML）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931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題材：最小版ジェネレーター mini-gen（入力 → 生成 → 出力 ＋ セルフテスト）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→ WHAT → HOW ／ 人ではなく仕組み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1089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全体像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ツールは「4つの役割」でできている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743200" cy="2286000"/>
          </a:xfrm>
          <a:prstGeom prst="rect">
            <a:avLst/>
          </a:prstGeom>
          <a:solidFill>
            <a:srgbClr val="F3F6F9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9659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 INPUT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ユーザーが値を入れる（&lt;input&gt;）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46704" y="1737360"/>
            <a:ext cx="2743200" cy="2286000"/>
          </a:xfrm>
          <a:prstGeom prst="rect">
            <a:avLst/>
          </a:prstGeom>
          <a:solidFill>
            <a:srgbClr val="F3F6F9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75304" y="19659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575304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29584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 GENERATE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29584" y="32004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入力から文字列を組み立てる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36208" y="1737360"/>
            <a:ext cx="2743200" cy="2286000"/>
          </a:xfrm>
          <a:prstGeom prst="rect">
            <a:avLst/>
          </a:prstGeom>
          <a:solidFill>
            <a:srgbClr val="F3F6F9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64808" y="19659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464808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19088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出力 OUTPUT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19088" y="32004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作った文字列を画面に出す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25712" y="1737360"/>
            <a:ext cx="2743200" cy="2286000"/>
          </a:xfrm>
          <a:prstGeom prst="rect">
            <a:avLst/>
          </a:prstGeom>
          <a:solidFill>
            <a:srgbClr val="F3F6F9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54312" y="1965960"/>
            <a:ext cx="640080" cy="64008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2" name="Text 20"/>
          <p:cNvSpPr/>
          <p:nvPr/>
        </p:nvSpPr>
        <p:spPr>
          <a:xfrm>
            <a:off x="9354312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308592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セルフテスト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308592" y="32004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起動時に壊れていないか確認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3891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🍜 うさうさラーメン店のたとえ：①注文を聞く → ②作る → ③出す → ④味見。当たり前の流れをコードに分けただけ。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第1部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新人向け：1行ずつ読む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3840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役割で小さく分ける／外の入力は疑う／作ると出すを分ける／起動時に味見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1089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新人向け｜① 入力を読む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val()：入力欄の値を安全に読む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6766560" cy="1737360"/>
          </a:xfrm>
          <a:prstGeom prst="rect">
            <a:avLst/>
          </a:prstGeom>
          <a:solidFill>
            <a:srgbClr val="F3F6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64208"/>
            <a:ext cx="649224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val(id){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el = document.getElementById(id);  // idで部品を取り出す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el ? el.value : "";            // 無ければ空文字（落ちない）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0" y="1645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getElementById</a:t>
            </a:r>
            <a:pPr indent="0" marL="0">
              <a:buNone/>
            </a:pPr>
            <a:r>
              <a:rPr lang="en-US" sz="14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：idで部品を1つ探す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0" y="22860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三項演算子 </a:t>
            </a:r>
            <a:pPr indent="0" marL="0">
              <a:buNone/>
            </a:pPr>
            <a:r>
              <a:rPr lang="en-US" sz="140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? A : B</a:t>
            </a:r>
            <a:pPr indent="0" marL="0">
              <a:buNone/>
            </a:pPr>
            <a:r>
              <a:rPr lang="en-US" sz="14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は「あればA、無ければB」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11247120" cy="868680"/>
          </a:xfrm>
          <a:prstGeom prst="rect">
            <a:avLst/>
          </a:prstGeom>
          <a:solidFill>
            <a:srgbClr val="FFF4E8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7947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4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見つからなくてもエラーで止まらない。これが「落ちないコード」の第一歩。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1089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新人向け｜② 入力を疑う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esc()：危険な文字を無害化（XSS対策）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7315200" cy="2103120"/>
          </a:xfrm>
          <a:prstGeom prst="rect">
            <a:avLst/>
          </a:prstGeom>
          <a:solidFill>
            <a:srgbClr val="F3F6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64208"/>
            <a:ext cx="704088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esc(s){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String(s).replace(/[&lt;&gt;&amp;]/g, function(c){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{"&lt;":"&amp;lt;", "&gt;":"&amp;gt;", "&amp;":"&amp;amp;"}[c];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55280" y="17373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&gt; &amp; を表示用の安全な表記に置き換える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0" y="25603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合言葉：</a:t>
            </a:r>
            <a:pPr indent="0" marL="0">
              <a:buNone/>
            </a:pPr>
            <a:r>
              <a:rPr lang="en-US" sz="15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外から来た文字は、まず疑う。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例）&lt;script&gt; をそのまま画面に出すと危険 → &amp;lt;script&amp;gt; にして無害化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1089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新人向け｜③ 生成（心臓）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generate()：入力から文章を組み立てる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47120" cy="2743200"/>
          </a:xfrm>
          <a:prstGeom prst="rect">
            <a:avLst/>
          </a:prstGeom>
          <a:solidFill>
            <a:srgbClr val="F3F6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64208"/>
            <a:ext cx="1097280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generate(inp){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course = inp.course || "（コース名なし）"; // 未入力でも落ちない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who = inp.audience ? inp.audience+"向け" : "受講者向け";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md = "";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md += "# " + esc(course) + " 設計メモ\n\n";  // 見出し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md += "- 対象：" + esc(who) + "\n";           // 箇条書き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md;   // 作るだけ。画面には触らない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4526280"/>
            <a:ext cx="11247120" cy="777240"/>
          </a:xfrm>
          <a:prstGeom prst="rect">
            <a:avLst/>
          </a:prstGeom>
          <a:solidFill>
            <a:srgbClr val="E9F2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6177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4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大事：この関数は「作る」だけ。「出す」のは別の係（render）。役割を分けるとテストしやすい。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1089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新人向け｜④ 出力と流れ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render() と doGenerate()：出して、つなぐ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47120" cy="1188720"/>
          </a:xfrm>
          <a:prstGeom prst="rect">
            <a:avLst/>
          </a:prstGeom>
          <a:solidFill>
            <a:srgbClr val="F3F6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64208"/>
            <a:ext cx="10972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render(md){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document.getElementById("out").textContent = md; // 安全に表示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11247120" cy="1828800"/>
          </a:xfrm>
          <a:prstGeom prst="rect">
            <a:avLst/>
          </a:prstGeom>
          <a:solidFill>
            <a:srgbClr val="F3F6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035808"/>
            <a:ext cx="1097280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doGenerate(){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inp = collectInput();        // ①集める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if(!inp.course){ alert("..."); return; } // ②検証（早期リターン）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render(generate(inp));           // ③生成 → ④表示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流れが「集める→検証→生成→表示」と一直線。読めば分かるのが良いコード。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1089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新人向け｜セルフテスト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起動時に「味見」を自動化する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7498080" cy="1463040"/>
          </a:xfrm>
          <a:prstGeom prst="rect">
            <a:avLst/>
          </a:prstGeom>
          <a:solidFill>
            <a:srgbClr val="F3F6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64208"/>
            <a:ext cx="72237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T("生成に見出しが入る", function(){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generate({course:"テスト"}).indexOf("# テスト") &gt;= 0;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0" y="1600200"/>
            <a:ext cx="457200" cy="457200"/>
          </a:xfrm>
          <a:prstGeom prst="ellipse">
            <a:avLst/>
          </a:prstGeom>
          <a:solidFill>
            <a:srgbClr val="2BA84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32520" y="16276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869680" y="2103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generate() を実際に呼び、結果に見出しが含まれるか確認。含まれれば合格。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11247120" cy="868680"/>
          </a:xfrm>
          <a:prstGeom prst="rect">
            <a:avLst/>
          </a:prstGeom>
          <a:solidFill>
            <a:srgbClr val="FFF4E8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7033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4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人が毎回手で確認しなくて済む ＝ 「人ではなく仕組み」。壊れたら起動時に赤く分かる。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第2部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中堅向け：設計の意図とUML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3840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副作用を1か所に閉じ込める／純粋ロジックでテスト容易に／追加は「分岐＋テスト」をセットで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1089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中堅向け｜関心の分離（SoC）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単方向の流れ：副作用は1か所に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9EB3C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DOM入力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04288" y="182880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7B"/>
                </a:solidFill>
              </a:rPr>
              <a:t>▶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61488" y="182880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2761488" y="18288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collectInput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17136" y="182880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7B"/>
                </a:solidFill>
              </a:rPr>
              <a:t>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74336" y="182880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974336" y="18288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29984" y="182880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7B"/>
                </a:solidFill>
              </a:rPr>
              <a:t>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87184" y="182880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F2A65A"/>
          </a:solidFill>
          <a:ln/>
        </p:spPr>
      </p:sp>
      <p:sp>
        <p:nvSpPr>
          <p:cNvPr id="15" name="Text 13"/>
          <p:cNvSpPr/>
          <p:nvPr/>
        </p:nvSpPr>
        <p:spPr>
          <a:xfrm>
            <a:off x="7187184" y="18288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42832" y="182880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7B"/>
                </a:solidFill>
              </a:rPr>
              <a:t>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400032" y="182880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9EB3C2"/>
          </a:solidFill>
          <a:ln/>
        </p:spPr>
      </p:sp>
      <p:sp>
        <p:nvSpPr>
          <p:cNvPr id="18" name="Text 16"/>
          <p:cNvSpPr/>
          <p:nvPr/>
        </p:nvSpPr>
        <p:spPr>
          <a:xfrm>
            <a:off x="9400032" y="18288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DOM出力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108960"/>
            <a:ext cx="11155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generate() は純粋関数に近い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同じ入力なら同じ出力／DOMに副作用なし → テストが容易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render() だけが DOM に触れる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副作用の出口を1か所に閉じ込めるのが保守性の肝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50292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実物：generate() → generateMarkdown() の switch ルーター（16成果物へ振り分け）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1089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中堅向け｜クラス図（UML相当）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責務の地図：UI / Controller / Service / View / Test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200400" cy="1280160"/>
          </a:xfrm>
          <a:prstGeom prst="rect">
            <a:avLst/>
          </a:prstGeom>
          <a:solidFill>
            <a:srgbClr val="F3F6F9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320040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&lt;&lt;UI&gt;&gt; InputForm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2011680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#course / #audience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#genBtn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503920" y="1554480"/>
            <a:ext cx="3200400" cy="1280160"/>
          </a:xfrm>
          <a:prstGeom prst="rect">
            <a:avLst/>
          </a:prstGeom>
          <a:solidFill>
            <a:srgbClr val="F3F6F9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1554480"/>
            <a:ext cx="3200400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15544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&lt;&lt;Model&gt;&gt; InputData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13648" y="2011680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course: string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audience: string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3566160" cy="1371600"/>
          </a:xfrm>
          <a:prstGeom prst="rect">
            <a:avLst/>
          </a:prstGeom>
          <a:solidFill>
            <a:srgbClr val="F3F6F9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200400"/>
            <a:ext cx="356616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004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&lt;&lt;Controller&gt;&gt; doGenerate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66928" y="3657600"/>
            <a:ext cx="3346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collectInput()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検証（早期return）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97680" y="3200400"/>
            <a:ext cx="3657600" cy="1371600"/>
          </a:xfrm>
          <a:prstGeom prst="rect">
            <a:avLst/>
          </a:prstGeom>
          <a:solidFill>
            <a:srgbClr val="F3F6F9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3200400"/>
            <a:ext cx="365760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0" y="32004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&lt;&lt;Service&gt;&gt; Generator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407408" y="3657600"/>
            <a:ext cx="3438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generate(inp): md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esc(s): string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29600" y="3200400"/>
            <a:ext cx="3474720" cy="1371600"/>
          </a:xfrm>
          <a:prstGeom prst="rect">
            <a:avLst/>
          </a:prstGeom>
          <a:solidFill>
            <a:srgbClr val="F3F6F9"/>
          </a:solidFill>
          <a:ln w="19050">
            <a:solidFill>
              <a:srgbClr val="F2A6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3200400"/>
            <a:ext cx="3474720" cy="384048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0" y="32004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&lt;&lt;View&gt;&gt; render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339328" y="3657600"/>
            <a:ext cx="3255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DOMに出力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textContentで安全表示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97680" y="4846320"/>
            <a:ext cx="3657600" cy="1280160"/>
          </a:xfrm>
          <a:prstGeom prst="rect">
            <a:avLst/>
          </a:prstGeom>
          <a:solidFill>
            <a:srgbClr val="F3F6F9"/>
          </a:solidFill>
          <a:ln w="19050">
            <a:solidFill>
              <a:srgbClr val="F2A6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97680" y="4846320"/>
            <a:ext cx="3657600" cy="384048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27" name="Text 25"/>
          <p:cNvSpPr/>
          <p:nvPr/>
        </p:nvSpPr>
        <p:spPr>
          <a:xfrm>
            <a:off x="4297680" y="48463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&lt;&lt;Test&gt;&gt; SelfTest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407408" y="5303520"/>
            <a:ext cx="3438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runSelfTests()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T(name, fn)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2852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▶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74904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▶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MVC＋Service＋Test。役割が一方向に流れ、依存が循環しない。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1089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中堅向け｜シーケンス（UML相当）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実行時の流れ：click から表示まで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47120" cy="3383280"/>
          </a:xfrm>
          <a:prstGeom prst="rect">
            <a:avLst/>
          </a:prstGeom>
          <a:solidFill>
            <a:srgbClr val="F3F6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64208"/>
            <a:ext cx="1097280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→ InputForm : click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InputForm → doGenerate()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doGenerate → collectInput() : 入力を集める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collectInput → doGenerate : inp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doGenerate : course空? ⇒ alert して return（早期リターン）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doGenerate → generate(inp) : 文章を組み立て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 → doGenerate : md（Markdown）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doGenerate → render(md) : 出力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 → DOM(out) : textContent をセット（表示）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生成（純粋）と表示（副作用）が分かれているので、各ステップを単体で検証できる。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1089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中堅向け｜テスト容易性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なぜこの分け方？ → テストが書けるから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09728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内蔵セルフテスト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0" y="178308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起動時に自動実行。生成・反映・エスケープを関数で確認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109728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34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商用テスト（jsdom）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0" y="283464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ブラウザ相当で検証：出力・CSV・XSS・DL・ページエラー0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109728" cy="914400"/>
          </a:xfrm>
          <a:prstGeom prst="rect">
            <a:avLst/>
          </a:prstGeom>
          <a:solidFill>
            <a:srgbClr val="2BA84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8862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出荷条件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0" y="38862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5回連続オール緑（再現性のある安定）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mini-gen の runSelfTests() は、その最小サンプル。観点を関数で持つ形は実物と同じ。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1089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中堅向け｜拡張の型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新機能を足す手順（破綻させない）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7830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generate() に分岐を足す（実物：genXxx()＋switchに1行）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6517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入力UIを足す（collectInput に1項目）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5204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セルフテストを1〜2個追加（生成される・反映される）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43891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商用テストに観点追加 → 5回連続緑を確認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5349240"/>
            <a:ext cx="11247120" cy="777240"/>
          </a:xfrm>
          <a:prstGeom prst="rect">
            <a:avLst/>
          </a:prstGeom>
          <a:solidFill>
            <a:srgbClr val="E9F2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4406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4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💡「分岐＋テストをセットで足す」習慣が、16成果物まで破綻なく育てられた理由。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まとめ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5212080" cy="3108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828800"/>
            <a:ext cx="521208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新人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役割で小さく分ける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外の入力は疑う（esc）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作ると出すを分ける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起動時に味見（テスト）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212080" cy="3108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1828800"/>
            <a:ext cx="5212080" cy="45720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828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中堅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246888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副作用を1か所に閉じ込める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純粋ロジックでテスト容易に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追加は「分岐＋テスト」をセットで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5回連続緑を出荷条件に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52120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🐰 小さく理解して、実物で確認。mini-gen が読めれば実物（16成果物）は同じ型の拡大版。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面白きこともなき世を面白く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ジェネレーターツール実装勉強会</dc:title>
  <dc:subject>PptxGenJS Presentation</dc:subject>
  <dc:creator>うさうさ研修工房</dc:creator>
  <cp:lastModifiedBy>うさうさ研修工房</cp:lastModifiedBy>
  <cp:revision>1</cp:revision>
  <dcterms:created xsi:type="dcterms:W3CDTF">2026-05-31T19:39:06Z</dcterms:created>
  <dcterms:modified xsi:type="dcterms:W3CDTF">2026-05-31T19:39:06Z</dcterms:modified>
</cp:coreProperties>
</file>